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Georgia"/>
              </a:rPr>
              <a:t>Automated Insurance
Claim Triage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8036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/>
              </a:rPr>
              <a:t>Building an AI Prompt Chain with Pydantic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547872"/>
            <a:ext cx="64008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4A7FA0"/>
                </a:solidFill>
                <a:latin typeface="Calibri"/>
              </a:rPr>
              <a:t>Lesson 4: Chaining Prompts for Agentic Reasoning  ·  GreatLearning Agentic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64608"/>
            <a:ext cx="1828800" cy="2788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01  EXTRACT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4864608"/>
            <a:ext cx="1828800" cy="2788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02  ASSESS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4864608"/>
            <a:ext cx="1828800" cy="2788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03  ROUTE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4864608"/>
            <a:ext cx="457200" cy="2788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0" y="4864608"/>
            <a:ext cx="457200" cy="2788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0B4D8"/>
                </a:solidFill>
                <a:latin typeface="Calibri"/>
              </a:rPr>
              <a:t>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The Challenge: Processing Raw Accident Reports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4023360" cy="4160520"/>
          </a:xfrm>
          <a:prstGeom prst="rect">
            <a:avLst/>
          </a:prstGeom>
          <a:solidFill>
            <a:srgbClr val="FFF5F5"/>
          </a:solidFill>
          <a:ln w="19050">
            <a:solidFill>
              <a:srgbClr val="F9A8A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4023360" cy="50292"/>
          </a:xfrm>
          <a:prstGeom prst="rect">
            <a:avLst/>
          </a:prstGeom>
          <a:solidFill>
            <a:srgbClr val="E53E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80467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C53030"/>
                </a:solidFill>
                <a:latin typeface="Calibri"/>
              </a:rPr>
              <a:t>✗  The Old Way — Manual 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1216152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Human agent reads each accident report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Manually finds: claim ID, customer, vehicle, damaged parts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Judges damage severity based on experience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Decides which specialist team should handle it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Slow — one report at a time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Inconsistent — different agents, different conclusions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4846320" y="685800"/>
            <a:ext cx="4023360" cy="4160520"/>
          </a:xfrm>
          <a:prstGeom prst="rect">
            <a:avLst/>
          </a:prstGeom>
          <a:solidFill>
            <a:srgbClr val="F0FFF4"/>
          </a:solidFill>
          <a:ln w="19050">
            <a:solidFill>
              <a:srgbClr val="9A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0" y="685800"/>
            <a:ext cx="4023360" cy="50292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83480" y="80467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276749"/>
                </a:solidFill>
                <a:latin typeface="Calibri"/>
              </a:rPr>
              <a:t>✓  The New Way — AI Prompt Chain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216152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3 specialised AI prompts chain together automatically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Stage 1 extracts structured data from free text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Stage 2 assesses damage severity with cost estimate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Stage 3 routes to the correct specialist queue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Gate checks validate output at every single step</a:t>
            </a:r>
          </a:p>
          <a:p>
            <a:pPr>
              <a:spcAft>
                <a:spcPts val="300"/>
              </a:spcAft>
            </a:pPr>
            <a:r>
              <a:rPr sz="1150">
                <a:solidFill>
                  <a:srgbClr val="1A2E3D"/>
                </a:solidFill>
                <a:latin typeface="Calibri"/>
              </a:rPr>
              <a:t>• Processes 5+ reports in seconds, consistently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06240" y="2423160"/>
            <a:ext cx="731520" cy="73152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06240" y="242316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The 3-Stage AI Pipeline — Big Picture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201168" y="731520"/>
            <a:ext cx="1078992" cy="1078992"/>
          </a:xfrm>
          <a:prstGeom prst="rect">
            <a:avLst/>
          </a:prstGeom>
          <a:solidFill>
            <a:srgbClr val="DBEAFE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01168" y="731520"/>
            <a:ext cx="1078992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82296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6CB0"/>
                </a:solidFill>
                <a:latin typeface="Calibri"/>
              </a:rPr>
              <a:t>RAW FNOL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133856"/>
            <a:ext cx="10789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2E3D"/>
                </a:solidFill>
                <a:latin typeface="Calibri"/>
              </a:rPr>
              <a:t>Free-text
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07592" y="1078992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65A82"/>
                </a:solidFill>
                <a:latin typeface="Calibri"/>
              </a:rPr>
              <a:t>›</a:t>
            </a:r>
          </a:p>
        </p:txBody>
      </p:sp>
      <p:sp>
        <p:nvSpPr>
          <p:cNvPr id="9" name="Rectangle 8"/>
          <p:cNvSpPr/>
          <p:nvPr/>
        </p:nvSpPr>
        <p:spPr>
          <a:xfrm>
            <a:off x="1490472" y="731520"/>
            <a:ext cx="1078992" cy="1078992"/>
          </a:xfrm>
          <a:prstGeom prst="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490472" y="731520"/>
            <a:ext cx="1078992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90472" y="82296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B6CB0"/>
                </a:solidFill>
                <a:latin typeface="Calibri"/>
              </a:rPr>
              <a:t>STAGE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90472" y="1133856"/>
            <a:ext cx="10789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2E3D"/>
                </a:solidFill>
                <a:latin typeface="Calibri"/>
              </a:rPr>
              <a:t>Information
Extract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96895" y="1078992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65A82"/>
                </a:solidFill>
                <a:latin typeface="Calibri"/>
              </a:rPr>
              <a:t>›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9776" y="731520"/>
            <a:ext cx="1078992" cy="1078992"/>
          </a:xfrm>
          <a:prstGeom prst="rect">
            <a:avLst/>
          </a:prstGeom>
          <a:solidFill>
            <a:srgbClr val="FFFBEB"/>
          </a:solidFill>
          <a:ln w="19050">
            <a:solidFill>
              <a:srgbClr val="B75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79776" y="731520"/>
            <a:ext cx="1078992" cy="50292"/>
          </a:xfrm>
          <a:prstGeom prst="rect">
            <a:avLst/>
          </a:prstGeom>
          <a:solidFill>
            <a:srgbClr val="B7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79776" y="82296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B7500E"/>
                </a:solidFill>
                <a:latin typeface="Calibri"/>
              </a:rPr>
              <a:t>GATE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79776" y="1133856"/>
            <a:ext cx="10789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2E3D"/>
                </a:solidFill>
                <a:latin typeface="Calibri"/>
              </a:rPr>
              <a:t>Schema
Validation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1078992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65A82"/>
                </a:solidFill>
                <a:latin typeface="Calibri"/>
              </a:rPr>
              <a:t>›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069079" y="731520"/>
            <a:ext cx="1078992" cy="1078992"/>
          </a:xfrm>
          <a:prstGeom prst="rect">
            <a:avLst/>
          </a:prstGeom>
          <a:solidFill>
            <a:srgbClr val="FAF5FF"/>
          </a:solidFill>
          <a:ln w="19050">
            <a:solidFill>
              <a:srgbClr val="553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69079" y="731520"/>
            <a:ext cx="1078992" cy="50292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69079" y="82296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553C9A"/>
                </a:solidFill>
                <a:latin typeface="Calibri"/>
              </a:rPr>
              <a:t>STAGE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69079" y="1133856"/>
            <a:ext cx="10789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2E3D"/>
                </a:solidFill>
                <a:latin typeface="Calibri"/>
              </a:rPr>
              <a:t>Severity
Assessment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75503" y="1078992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65A82"/>
                </a:solidFill>
                <a:latin typeface="Calibri"/>
              </a:rPr>
              <a:t>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58383" y="731520"/>
            <a:ext cx="1078992" cy="1078992"/>
          </a:xfrm>
          <a:prstGeom prst="rect">
            <a:avLst/>
          </a:prstGeom>
          <a:solidFill>
            <a:srgbClr val="FFFBEB"/>
          </a:solidFill>
          <a:ln w="19050">
            <a:solidFill>
              <a:srgbClr val="B75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358383" y="731520"/>
            <a:ext cx="1078992" cy="50292"/>
          </a:xfrm>
          <a:prstGeom prst="rect">
            <a:avLst/>
          </a:prstGeom>
          <a:solidFill>
            <a:srgbClr val="B7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358383" y="82296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B7500E"/>
                </a:solidFill>
                <a:latin typeface="Calibri"/>
              </a:rPr>
              <a:t>GATE 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58383" y="1133856"/>
            <a:ext cx="10789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2E3D"/>
                </a:solidFill>
                <a:latin typeface="Calibri"/>
              </a:rPr>
              <a:t>Cost-Range
Check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7" y="1078992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65A82"/>
                </a:solidFill>
                <a:latin typeface="Calibri"/>
              </a:rPr>
              <a:t>›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47688" y="731520"/>
            <a:ext cx="1078992" cy="1078992"/>
          </a:xfrm>
          <a:prstGeom prst="rect">
            <a:avLst/>
          </a:prstGeom>
          <a:solidFill>
            <a:srgbClr val="F0FFF4"/>
          </a:solidFill>
          <a:ln w="19050">
            <a:solidFill>
              <a:srgbClr val="225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47688" y="731520"/>
            <a:ext cx="1078992" cy="50292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82296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22543D"/>
                </a:solidFill>
                <a:latin typeface="Calibri"/>
              </a:rPr>
              <a:t>STAGE 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47688" y="1133856"/>
            <a:ext cx="10789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2E3D"/>
                </a:solidFill>
                <a:latin typeface="Calibri"/>
              </a:rPr>
              <a:t>Queue
Routing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54111" y="1078992"/>
            <a:ext cx="182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600" b="0" i="0">
                <a:solidFill>
                  <a:srgbClr val="065A82"/>
                </a:solidFill>
                <a:latin typeface="Calibri"/>
              </a:rPr>
              <a:t>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36992" y="731520"/>
            <a:ext cx="1078992" cy="1078992"/>
          </a:xfrm>
          <a:prstGeom prst="rect">
            <a:avLst/>
          </a:prstGeom>
          <a:solidFill>
            <a:srgbClr val="F0FFF4"/>
          </a:solidFill>
          <a:ln w="19050">
            <a:solidFill>
              <a:srgbClr val="38A1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36992" y="731520"/>
            <a:ext cx="1078992" cy="50292"/>
          </a:xfrm>
          <a:prstGeom prst="rect">
            <a:avLst/>
          </a:prstGeom>
          <a:solidFill>
            <a:srgbClr val="38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936992" y="822960"/>
            <a:ext cx="107899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8A169"/>
                </a:solidFill>
                <a:latin typeface="Calibri"/>
              </a:rPr>
              <a:t>RESULTS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936992" y="1133856"/>
            <a:ext cx="107899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850" b="0" i="0">
                <a:solidFill>
                  <a:srgbClr val="1A2E3D"/>
                </a:solidFill>
                <a:latin typeface="Calibri"/>
              </a:rPr>
              <a:t>pandas
DataFrame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74320" y="2029968"/>
            <a:ext cx="8595360" cy="22860"/>
          </a:xfrm>
          <a:prstGeom prst="rect">
            <a:avLst/>
          </a:prstGeom>
          <a:solidFill>
            <a:srgbClr val="D1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2221991"/>
            <a:ext cx="91440" cy="502920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7200" y="2176272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B6CB0"/>
                </a:solidFill>
                <a:latin typeface="Calibri"/>
              </a:rPr>
              <a:t>Stage 1 — Extract: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48840" y="2176272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E3D"/>
                </a:solidFill>
                <a:latin typeface="Calibri"/>
              </a:rPr>
              <a:t>Reads raw FNOL text → ClaimInformation (claim_id, name, vehicle, loss_desc, damage_area)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2889503"/>
            <a:ext cx="91440" cy="502920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2843784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53C9A"/>
                </a:solidFill>
                <a:latin typeface="Calibri"/>
              </a:rPr>
              <a:t>Stage 2 — Assess: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48840" y="2843784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E3D"/>
                </a:solidFill>
                <a:latin typeface="Calibri"/>
              </a:rPr>
              <a:t>Structured claim → SeverityAssessment (Minor/Moderate/Major + estimated repair cost in $)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557015"/>
            <a:ext cx="91440" cy="502920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511296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2543D"/>
                </a:solidFill>
                <a:latin typeface="Calibri"/>
              </a:rPr>
              <a:t>Stage 3 — Route: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148840" y="3511296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E3D"/>
                </a:solidFill>
                <a:latin typeface="Calibri"/>
              </a:rPr>
              <a:t>Claim + severity → ClaimRouting (queue: glass/fast_track/material_damage/total_loss + priority 1–5)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24528"/>
            <a:ext cx="91440" cy="502920"/>
          </a:xfrm>
          <a:prstGeom prst="rect">
            <a:avLst/>
          </a:prstGeom>
          <a:solidFill>
            <a:srgbClr val="B7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4178808"/>
            <a:ext cx="169164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7500E"/>
                </a:solidFill>
                <a:latin typeface="Calibri"/>
              </a:rPr>
              <a:t>Gate Checks: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8840" y="4178808"/>
            <a:ext cx="67665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E3D"/>
                </a:solidFill>
                <a:latin typeface="Calibri"/>
              </a:rPr>
              <a:t>After every AI call, Pydantic validates the JSON output. Bad data is rejected before reaching the next stage.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The Raw Input: 5 First Notice of Loss (FNOL) Reports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58368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Each report is a plain text string — unstructured, informal, typed by the customer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960120"/>
            <a:ext cx="1572768" cy="3794760"/>
          </a:xfrm>
          <a:prstGeom prst="rect">
            <a:avLst/>
          </a:prstGeom>
          <a:solidFill>
            <a:srgbClr val="EBF8FF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1572768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8600" y="1051560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B6CB0"/>
                </a:solidFill>
                <a:latin typeface="Calibri"/>
              </a:rPr>
              <a:t>C001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1399032"/>
            <a:ext cx="1426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2E3D"/>
                </a:solidFill>
                <a:latin typeface="Calibri"/>
              </a:rPr>
              <a:t>John Smith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52" y="1746504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4A5568"/>
                </a:solidFill>
                <a:latin typeface="Calibri"/>
              </a:rPr>
              <a:t>2018 Toyota Camry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01752" y="2185416"/>
            <a:ext cx="1426464" cy="22860"/>
          </a:xfrm>
          <a:prstGeom prst="rect">
            <a:avLst/>
          </a:prstGeom>
          <a:solidFill>
            <a:srgbClr val="D1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1752" y="2258568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Incident: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" y="2496312"/>
            <a:ext cx="142646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E3D"/>
                </a:solidFill>
                <a:latin typeface="Calibri"/>
              </a:rPr>
              <a:t>Rock hit windshield causing a small chip about the size of a quarter. No other damage observed.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56815" y="960120"/>
            <a:ext cx="1572768" cy="3794760"/>
          </a:xfrm>
          <a:prstGeom prst="rect">
            <a:avLst/>
          </a:prstGeom>
          <a:solidFill>
            <a:srgbClr val="F5F0FF"/>
          </a:solidFill>
          <a:ln w="19050">
            <a:solidFill>
              <a:srgbClr val="805A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56815" y="960120"/>
            <a:ext cx="1572768" cy="50292"/>
          </a:xfrm>
          <a:prstGeom prst="rect">
            <a:avLst/>
          </a:prstGeom>
          <a:solidFill>
            <a:srgbClr val="805A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956815" y="1051560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805AD5"/>
                </a:solidFill>
                <a:latin typeface="Calibri"/>
              </a:rPr>
              <a:t>C002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29967" y="1399032"/>
            <a:ext cx="1426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2E3D"/>
                </a:solidFill>
                <a:latin typeface="Calibri"/>
              </a:rPr>
              <a:t>Sarah Johnson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29967" y="1746504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4A5568"/>
                </a:solidFill>
                <a:latin typeface="Calibri"/>
              </a:rPr>
              <a:t>2020 Honda Civic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29967" y="2185416"/>
            <a:ext cx="1426464" cy="22860"/>
          </a:xfrm>
          <a:prstGeom prst="rect">
            <a:avLst/>
          </a:prstGeom>
          <a:solidFill>
            <a:srgbClr val="D1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29967" y="2258568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Incident: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29967" y="2496312"/>
            <a:ext cx="142646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E3D"/>
                </a:solidFill>
                <a:latin typeface="Calibri"/>
              </a:rPr>
              <a:t>Parked at grocery store. Someone hit my car and dented the rear bumper and taillight. Taillight broken.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85031" y="960120"/>
            <a:ext cx="1572768" cy="3794760"/>
          </a:xfrm>
          <a:prstGeom prst="rect">
            <a:avLst/>
          </a:prstGeom>
          <a:solidFill>
            <a:srgbClr val="FFF5F5"/>
          </a:solidFill>
          <a:ln w="19050">
            <a:solidFill>
              <a:srgbClr val="C530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85031" y="960120"/>
            <a:ext cx="1572768" cy="50292"/>
          </a:xfrm>
          <a:prstGeom prst="rect">
            <a:avLst/>
          </a:prstGeom>
          <a:solidFill>
            <a:srgbClr val="C530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85031" y="1051560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C53030"/>
                </a:solidFill>
                <a:latin typeface="Calibri"/>
              </a:rPr>
              <a:t>C003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8183" y="1399032"/>
            <a:ext cx="1426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2E3D"/>
                </a:solidFill>
                <a:latin typeface="Calibri"/>
              </a:rPr>
              <a:t>M. Rodriguez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58183" y="1746504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4A5568"/>
                </a:solidFill>
                <a:latin typeface="Calibri"/>
              </a:rPr>
              <a:t>2022 Ford F-150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58183" y="2185416"/>
            <a:ext cx="1426464" cy="22860"/>
          </a:xfrm>
          <a:prstGeom prst="rect">
            <a:avLst/>
          </a:prstGeom>
          <a:solidFill>
            <a:srgbClr val="D1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58183" y="2258568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Incident: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58183" y="2496312"/>
            <a:ext cx="142646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E3D"/>
                </a:solidFill>
                <a:latin typeface="Calibri"/>
              </a:rPr>
              <a:t>Serious collision at intersection. Airbags deployed. Hood, bumper, engine damaged. Vehicle not drivable.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413248" y="960120"/>
            <a:ext cx="1572768" cy="3794760"/>
          </a:xfrm>
          <a:prstGeom prst="rect">
            <a:avLst/>
          </a:prstGeom>
          <a:solidFill>
            <a:srgbClr val="F0FFF4"/>
          </a:solidFill>
          <a:ln w="19050">
            <a:solidFill>
              <a:srgbClr val="2D6A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13248" y="960120"/>
            <a:ext cx="1572768" cy="50292"/>
          </a:xfrm>
          <a:prstGeom prst="rect">
            <a:avLst/>
          </a:prstGeom>
          <a:solidFill>
            <a:srgbClr val="2D6A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13248" y="1051560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2D6A4F"/>
                </a:solidFill>
                <a:latin typeface="Calibri"/>
              </a:rPr>
              <a:t>C004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1399032"/>
            <a:ext cx="1426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2E3D"/>
                </a:solidFill>
                <a:latin typeface="Calibri"/>
              </a:rPr>
              <a:t>Emma Williams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1746504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4A5568"/>
                </a:solidFill>
                <a:latin typeface="Calibri"/>
              </a:rPr>
              <a:t>2019 Subaru Outback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6400" y="2185416"/>
            <a:ext cx="1426464" cy="22860"/>
          </a:xfrm>
          <a:prstGeom prst="rect">
            <a:avLst/>
          </a:prstGeom>
          <a:solidFill>
            <a:srgbClr val="D1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0" y="2258568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Incident: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2496312"/>
            <a:ext cx="142646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E3D"/>
                </a:solidFill>
                <a:latin typeface="Calibri"/>
              </a:rPr>
              <a:t>Hailstorm — multiple dents on hood, roof, trunk. Side mirrors damaged and one window has a small crack.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141464" y="960120"/>
            <a:ext cx="1572768" cy="3794760"/>
          </a:xfrm>
          <a:prstGeom prst="rect">
            <a:avLst/>
          </a:prstGeom>
          <a:solidFill>
            <a:srgbClr val="FFFBEB"/>
          </a:solidFill>
          <a:ln w="19050">
            <a:solidFill>
              <a:srgbClr val="B75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141464" y="960120"/>
            <a:ext cx="1572768" cy="50292"/>
          </a:xfrm>
          <a:prstGeom prst="rect">
            <a:avLst/>
          </a:prstGeom>
          <a:solidFill>
            <a:srgbClr val="B7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41464" y="1051560"/>
            <a:ext cx="1572768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B7500E"/>
                </a:solidFill>
                <a:latin typeface="Calibri"/>
              </a:rPr>
              <a:t>C005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14616" y="1399032"/>
            <a:ext cx="14264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1A2E3D"/>
                </a:solidFill>
                <a:latin typeface="Calibri"/>
              </a:rPr>
              <a:t>David Brown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14616" y="1746504"/>
            <a:ext cx="1426464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4A5568"/>
                </a:solidFill>
                <a:latin typeface="Calibri"/>
              </a:rPr>
              <a:t>2021 Tesla Model 3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14616" y="2185416"/>
            <a:ext cx="1426464" cy="22860"/>
          </a:xfrm>
          <a:prstGeom prst="rect">
            <a:avLst/>
          </a:prstGeom>
          <a:solidFill>
            <a:srgbClr val="D1E0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14616" y="2258568"/>
            <a:ext cx="142646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 i="0">
                <a:solidFill>
                  <a:srgbClr val="4A5568"/>
                </a:solidFill>
                <a:latin typeface="Calibri"/>
              </a:rPr>
              <a:t>Incident: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14616" y="2496312"/>
            <a:ext cx="1426464" cy="2057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1A2E3D"/>
                </a:solidFill>
                <a:latin typeface="Calibri"/>
              </a:rPr>
              <a:t>Keyed in parking lot. Deep scratches along both driver's side doors.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" y="4800600"/>
            <a:ext cx="85953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4A5568"/>
                </a:solidFill>
                <a:latin typeface="Consolas"/>
              </a:rPr>
              <a:t>Python variable:  sample_fnols  →  list[str]  →  each processed by extract_claim_info(fnol_text)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Foundation: Libraries, AI Client &amp; Shared Helper Function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411480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4114800" cy="502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768096"/>
            <a:ext cx="3895344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065A82"/>
                </a:solidFill>
                <a:latin typeface="Calibri"/>
              </a:rPr>
              <a:t>  Libraries &amp; AI Client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097280"/>
            <a:ext cx="3895344" cy="263347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161288"/>
            <a:ext cx="3712463" cy="2505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from openai  import OpenAI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from pydantic import BaseModel, Field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from typing   import List, Literal, Optional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import json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# Connect to the AI service once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client = OpenAI(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base_url="https://openai.vocareum.com/v1",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api_key="your-api-key"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# Shared model used by all 3 stages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MODEL = "gpt-4.1-nano"</a:t>
            </a:r>
          </a:p>
        </p:txBody>
      </p:sp>
      <p:sp>
        <p:nvSpPr>
          <p:cNvPr id="9" name="Rectangle 8"/>
          <p:cNvSpPr/>
          <p:nvPr/>
        </p:nvSpPr>
        <p:spPr>
          <a:xfrm>
            <a:off x="384048" y="3858768"/>
            <a:ext cx="3895344" cy="896112"/>
          </a:xfrm>
          <a:prstGeom prst="rect">
            <a:avLst/>
          </a:prstGeom>
          <a:solidFill>
            <a:srgbClr val="F0FFF4"/>
          </a:solidFill>
          <a:ln w="12700">
            <a:solidFill>
              <a:srgbClr val="9A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3913632"/>
            <a:ext cx="3657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276749"/>
                </a:solidFill>
                <a:latin typeface="Calibri"/>
              </a:rPr>
              <a:t>Message list structure sent to every AI call: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4187952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B6CB0"/>
                </a:solidFill>
                <a:latin typeface="Consolas"/>
              </a:rPr>
              <a:t>{ "role":"system", "content": system_prompt 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" y="440740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0">
                <a:solidFill>
                  <a:srgbClr val="22543D"/>
                </a:solidFill>
                <a:latin typeface="Consolas"/>
              </a:rPr>
              <a:t>{ "role":"user",   "content": claim_data 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63440" y="685800"/>
            <a:ext cx="420624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663440" y="685800"/>
            <a:ext cx="4206240" cy="50292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768096"/>
            <a:ext cx="398678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1C7293"/>
                </a:solidFill>
                <a:latin typeface="Calibri"/>
              </a:rPr>
              <a:t>  get_completion() — Shared AI Caller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73168" y="1097280"/>
            <a:ext cx="3986784" cy="2633472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64607" y="1161288"/>
            <a:ext cx="3803904" cy="250545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def get_completion(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messages,         # list of role/content dicts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system_prompt,    # prepended as "system"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user_prompt,      # appended as "user"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model = MODEL     # default: gpt-4.1-nano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 -&gt; str:             # returns raw AI text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response = client.chat.completions.create(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 model    = model,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 messages = messages,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 temperature = 0.7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return response.choices[0].message.content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73168" y="3858768"/>
            <a:ext cx="3986784" cy="896112"/>
          </a:xfrm>
          <a:prstGeom prst="rect">
            <a:avLst/>
          </a:prstGeom>
          <a:solidFill>
            <a:srgbClr val="EBF8FF"/>
          </a:solidFill>
          <a:ln w="1270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92040" y="3913632"/>
            <a:ext cx="3749039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1A2E3D"/>
                </a:solidFill>
                <a:latin typeface="Calibri"/>
              </a:rPr>
              <a:t>Called by all 3 stages. Returns the raw text the AI wrote — e.g. a JSON string like {"severity":"Minor","est_cost":250.0} — which the gate then parses and validates.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Stage 1: Information Extraction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594360"/>
            <a:ext cx="2286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0" b="1" i="0">
                <a:solidFill>
                  <a:srgbClr val="E8EEF4"/>
                </a:solidFill>
                <a:latin typeface="Georgia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2633472" cy="4069080"/>
          </a:xfrm>
          <a:prstGeom prst="rect">
            <a:avLst/>
          </a:prstGeom>
          <a:solidFill>
            <a:srgbClr val="EBF8FF"/>
          </a:solidFill>
          <a:ln w="1905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85800"/>
            <a:ext cx="2633472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777240"/>
            <a:ext cx="241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B6CB0"/>
                </a:solidFill>
                <a:latin typeface="Calibri"/>
              </a:rPr>
              <a:t> 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143000"/>
            <a:ext cx="2414015" cy="22860"/>
          </a:xfrm>
          <a:prstGeom prst="rect">
            <a:avLst/>
          </a:prstGeom>
          <a:solidFill>
            <a:srgbClr val="90C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16152"/>
            <a:ext cx="2414015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Raw FNOL text string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Free-form, informal language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Contains: Claim ID, name, vehicle, incident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No structure — just a paragraph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Variable: sample_fnols[i]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611880"/>
            <a:ext cx="2414015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675888"/>
            <a:ext cx="2231135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extract_claim_info(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fnol_text: str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685800"/>
            <a:ext cx="2633472" cy="4069080"/>
          </a:xfrm>
          <a:prstGeom prst="rect">
            <a:avLst/>
          </a:prstGeom>
          <a:solidFill>
            <a:srgbClr val="F0F7FF"/>
          </a:solidFill>
          <a:ln w="19050">
            <a:solidFill>
              <a:srgbClr val="7EC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79" y="685800"/>
            <a:ext cx="2633472" cy="50292"/>
          </a:xfrm>
          <a:prstGeom prst="rect">
            <a:avLst/>
          </a:prstGeom>
          <a:solidFill>
            <a:srgbClr val="1A5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777240"/>
            <a:ext cx="241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A5E9A"/>
                </a:solidFill>
                <a:latin typeface="Calibri"/>
              </a:rPr>
              <a:t>  AI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143000"/>
            <a:ext cx="2414015" cy="22860"/>
          </a:xfrm>
          <a:prstGeom prst="rect">
            <a:avLst/>
          </a:prstGeom>
          <a:solidFill>
            <a:srgbClr val="7E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216152"/>
            <a:ext cx="2414015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Reads the raw text report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Identifies and extracts claim_id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Extracts customer name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Identifies vehicle details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Tags damage_area from allowed list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Returns JSON only — nothing else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3611880"/>
            <a:ext cx="2414015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3675888"/>
            <a:ext cx="2231135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get_completion(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messages=[system, user]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 -&gt; JSON str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685800"/>
            <a:ext cx="2633472" cy="4069080"/>
          </a:xfrm>
          <a:prstGeom prst="rect">
            <a:avLst/>
          </a:prstGeom>
          <a:solidFill>
            <a:srgbClr val="F0FFF4"/>
          </a:solidFill>
          <a:ln w="19050">
            <a:solidFill>
              <a:srgbClr val="9A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685800"/>
            <a:ext cx="2633472" cy="50292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777240"/>
            <a:ext cx="241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543D"/>
                </a:solidFill>
                <a:latin typeface="Calibri"/>
              </a:rPr>
              <a:t> 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143000"/>
            <a:ext cx="2414015" cy="22860"/>
          </a:xfrm>
          <a:prstGeom prst="rect">
            <a:avLst/>
          </a:prstGeom>
          <a:solidFill>
            <a:srgbClr val="9A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216152"/>
            <a:ext cx="2414015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Validated ClaimInformation object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claim_id: "C001"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name: "John Smith"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vehicle: "2018 Toyota Camry"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loss_desc: "Rock hit windshield..."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damage_area: ["windshield"]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3611880"/>
            <a:ext cx="2414015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3675888"/>
            <a:ext cx="2231135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ClaimInformation(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claim_id, name,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vehicle, loss_desc,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damage_area=[...]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21945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B6CB0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21945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B6CB0"/>
                </a:solidFill>
                <a:latin typeface="Calibri"/>
              </a:rPr>
              <a:t>›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Stage 1: Code Walkthrough — extract_claim_info()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4160520" cy="2057400"/>
          </a:xfrm>
          <a:prstGeom prst="rect">
            <a:avLst/>
          </a:prstGeom>
          <a:solidFill>
            <a:srgbClr val="EBF8FF"/>
          </a:solidFill>
          <a:ln w="1905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416052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76809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B6CB0"/>
                </a:solidFill>
                <a:latin typeface="Calibri"/>
              </a:rPr>
              <a:t>① Function Entry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43000"/>
            <a:ext cx="3941063" cy="1508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07008"/>
            <a:ext cx="3758183" cy="1380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def extract_claim_info(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fnol_text          # str: raw FNOL report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 -&gt; Optional[ClaimInformation]: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messages = [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{"role":"system",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"content": info_extraction_system_prompt},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{"role":"user",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"content": fnol_text}  # raw text input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]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response = get_completion(messages=messages)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685800"/>
            <a:ext cx="4160520" cy="2057400"/>
          </a:xfrm>
          <a:prstGeom prst="rect">
            <a:avLst/>
          </a:prstGeom>
          <a:solidFill>
            <a:srgbClr val="FAF5FF"/>
          </a:solidFill>
          <a:ln w="19050">
            <a:solidFill>
              <a:srgbClr val="D6B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685800"/>
            <a:ext cx="4160520" cy="50292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76809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53C9A"/>
                </a:solidFill>
                <a:latin typeface="Calibri"/>
              </a:rPr>
              <a:t>② Prompt Engineering — 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143000"/>
            <a:ext cx="39044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Role: </a:t>
            </a:r>
            <a:r>
              <a:rPr sz="1050">
                <a:solidFill>
                  <a:srgbClr val="1A2E3D"/>
                </a:solidFill>
                <a:latin typeface="Calibri"/>
              </a:rPr>
              <a:t>"You are an auto insurance claim processing assistant"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Format: </a:t>
            </a:r>
            <a:r>
              <a:rPr sz="1050">
                <a:solidFill>
                  <a:srgbClr val="1A2E3D"/>
                </a:solidFill>
                <a:latin typeface="Calibri"/>
              </a:rPr>
              <a:t>Return ONLY a valid JSON object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Fields: </a:t>
            </a:r>
            <a:r>
              <a:rPr sz="1050">
                <a:solidFill>
                  <a:srgbClr val="1A2E3D"/>
                </a:solidFill>
                <a:latin typeface="Calibri"/>
              </a:rPr>
              <a:t>claim_id, name, vehicle, loss_desc, damage_area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Constraint: </a:t>
            </a:r>
            <a:r>
              <a:rPr sz="1050">
                <a:solidFill>
                  <a:srgbClr val="1A2E3D"/>
                </a:solidFill>
                <a:latin typeface="Calibri"/>
              </a:rPr>
              <a:t>damage_area must use only 12 pre-defined values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Key rule: </a:t>
            </a:r>
            <a:r>
              <a:rPr sz="1050">
                <a:solidFill>
                  <a:srgbClr val="1A2E3D"/>
                </a:solidFill>
                <a:latin typeface="Calibri"/>
              </a:rPr>
              <a:t>"Only respond with the JSON object, nothing else."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4160520" cy="2057400"/>
          </a:xfrm>
          <a:prstGeom prst="rect">
            <a:avLst/>
          </a:prstGeom>
          <a:solidFill>
            <a:srgbClr val="FAF5FF"/>
          </a:solidFill>
          <a:ln w="19050">
            <a:solidFill>
              <a:srgbClr val="D6B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4160520" cy="50292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91693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53C9A"/>
                </a:solidFill>
                <a:latin typeface="Calibri"/>
              </a:rPr>
              <a:t>③ Pydantic Model — Validates AI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291840"/>
            <a:ext cx="3941063" cy="1508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355848"/>
            <a:ext cx="3758183" cy="1380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class ClaimInformation(BaseModel):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claim_id:    str = Field(min_length=2,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                    max_length=10)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name:        str = Field(min_length=2,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                    max_length=100)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vehicle:     str = Field(min_length=2)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loss_desc:   str = Field(min_length=10)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damage_area: List[Literal[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"windshield","front","rear","side",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"roof","hood","door","bumper","trunk",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"glass","fender","quarter panel"]]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834640"/>
            <a:ext cx="4160520" cy="2057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BD3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2834640"/>
            <a:ext cx="4160520" cy="50292"/>
          </a:xfrm>
          <a:prstGeom prst="rect">
            <a:avLst/>
          </a:prstGeom>
          <a:solidFill>
            <a:srgbClr val="B7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291693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7500E"/>
                </a:solidFill>
                <a:latin typeface="Calibri"/>
              </a:rPr>
              <a:t>④ Gate 1 — gate1_validate_claim_info()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18888" y="3291840"/>
            <a:ext cx="3941063" cy="1508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3355848"/>
            <a:ext cx="3758183" cy="1380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def gate1_validate_claim_info(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claim_info_json: str  # raw AI response text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 -&gt; ClaimInformation:   # or raises ValueError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# Step 1: text string → Python dict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d = json.loads(claim_info_json)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# Step 2: dict → Pydantic (validates all fields)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return ClaimInformation(**d)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# ValueError if any field fails → caller returns None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Stage 2: Severity Assessment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594360"/>
            <a:ext cx="2286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0" b="1" i="0">
                <a:solidFill>
                  <a:srgbClr val="E8EEF4"/>
                </a:solidFill>
                <a:latin typeface="Georgia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2633472" cy="4069080"/>
          </a:xfrm>
          <a:prstGeom prst="rect">
            <a:avLst/>
          </a:prstGeom>
          <a:solidFill>
            <a:srgbClr val="FAF5FF"/>
          </a:solidFill>
          <a:ln w="19050">
            <a:solidFill>
              <a:srgbClr val="D6B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85800"/>
            <a:ext cx="2633472" cy="50292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777240"/>
            <a:ext cx="241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553C9A"/>
                </a:solidFill>
                <a:latin typeface="Calibri"/>
              </a:rPr>
              <a:t> 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143000"/>
            <a:ext cx="2414015" cy="22860"/>
          </a:xfrm>
          <a:prstGeom prst="rect">
            <a:avLst/>
          </a:prstGeom>
          <a:solidFill>
            <a:srgbClr val="D6B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16152"/>
            <a:ext cx="2414015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ClaimInformation object from Stage 1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Converted via .model_dump_json()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Becomes the "user" message to AI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Contains all structured claim fields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611880"/>
            <a:ext cx="2414015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675888"/>
            <a:ext cx="2231135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assess_severity(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claim_info: ClaimInformation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685800"/>
            <a:ext cx="2633472" cy="4069080"/>
          </a:xfrm>
          <a:prstGeom prst="rect">
            <a:avLst/>
          </a:prstGeom>
          <a:solidFill>
            <a:srgbClr val="F3EEFF"/>
          </a:solidFill>
          <a:ln w="19050">
            <a:solidFill>
              <a:srgbClr val="C4B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79" y="685800"/>
            <a:ext cx="2633472" cy="50292"/>
          </a:xfrm>
          <a:prstGeom prst="rect">
            <a:avLst/>
          </a:prstGeom>
          <a:solidFill>
            <a:srgbClr val="4A23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777240"/>
            <a:ext cx="241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4A237C"/>
                </a:solidFill>
                <a:latin typeface="Calibri"/>
              </a:rPr>
              <a:t>  AI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143000"/>
            <a:ext cx="2414015" cy="22860"/>
          </a:xfrm>
          <a:prstGeom prst="rect">
            <a:avLst/>
          </a:prstGeom>
          <a:solidFill>
            <a:srgbClr val="C4B5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216152"/>
            <a:ext cx="2414015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Reads the structured claim JSON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Applies carrier heuristics: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  › → Minor: chips/scratches ($100–$1k)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  › → Moderate: panel damage ($1k–$5k)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  › → Major: structural ($5k–$50k)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Returns severity + cost as 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3611880"/>
            <a:ext cx="2414015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3675888"/>
            <a:ext cx="2231135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get_completion(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messages=[system, user]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 -&gt; JSON str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685800"/>
            <a:ext cx="2633472" cy="4069080"/>
          </a:xfrm>
          <a:prstGeom prst="rect">
            <a:avLst/>
          </a:prstGeom>
          <a:solidFill>
            <a:srgbClr val="F0FFF4"/>
          </a:solidFill>
          <a:ln w="19050">
            <a:solidFill>
              <a:srgbClr val="9A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685800"/>
            <a:ext cx="2633472" cy="50292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777240"/>
            <a:ext cx="241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543D"/>
                </a:solidFill>
                <a:latin typeface="Calibri"/>
              </a:rPr>
              <a:t> 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143000"/>
            <a:ext cx="2414015" cy="22860"/>
          </a:xfrm>
          <a:prstGeom prst="rect">
            <a:avLst/>
          </a:prstGeom>
          <a:solidFill>
            <a:srgbClr val="9A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216152"/>
            <a:ext cx="2414015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Validated SeverityAssessment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C001: Minor,    $250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C002: Moderate, $2,500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C003: Major,    $25,000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C004: Moderate, $3,000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C005: Moderate, $2,500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3611880"/>
            <a:ext cx="2414015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3675888"/>
            <a:ext cx="2231135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SeverityAssessment(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severity: "Minor"|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"Moderate"|"Major",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est_cost: float &gt; 0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21945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553C9A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21945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553C9A"/>
                </a:solidFill>
                <a:latin typeface="Calibri"/>
              </a:rPr>
              <a:t>›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Stage 2: Code Walkthrough — assess_severity()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4160520" cy="2057400"/>
          </a:xfrm>
          <a:prstGeom prst="rect">
            <a:avLst/>
          </a:prstGeom>
          <a:solidFill>
            <a:srgbClr val="EBF8FF"/>
          </a:solidFill>
          <a:ln w="1905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416052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76809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B6CB0"/>
                </a:solidFill>
                <a:latin typeface="Calibri"/>
              </a:rPr>
              <a:t>① Function Entry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43000"/>
            <a:ext cx="3941063" cy="1508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07008"/>
            <a:ext cx="3758183" cy="1380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def assess_severity(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claim_info: ClaimInformation  # from Stage 1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 -&gt; Optional[SeverityAssessment]: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# Convert Pydantic object → JSON text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claim_info_json = claim_info.model_dump_json()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messages = [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{"role":"system",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"content": severity_assessment_system_prompt},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{"role":"user",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"content": claim_info_json}  # Stage 1 output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]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685800"/>
            <a:ext cx="4160520" cy="2057400"/>
          </a:xfrm>
          <a:prstGeom prst="rect">
            <a:avLst/>
          </a:prstGeom>
          <a:solidFill>
            <a:srgbClr val="FAF5FF"/>
          </a:solidFill>
          <a:ln w="19050">
            <a:solidFill>
              <a:srgbClr val="D6B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685800"/>
            <a:ext cx="4160520" cy="50292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76809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53C9A"/>
                </a:solidFill>
                <a:latin typeface="Calibri"/>
              </a:rPr>
              <a:t>② Prompt Engineering — 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143000"/>
            <a:ext cx="39044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Role: </a:t>
            </a:r>
            <a:r>
              <a:rPr sz="1050">
                <a:solidFill>
                  <a:srgbClr val="1A2E3D"/>
                </a:solidFill>
                <a:latin typeface="Calibri"/>
              </a:rPr>
              <a:t>"You are an auto insurance damage assessor"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Rules: </a:t>
            </a:r>
            <a:r>
              <a:rPr sz="1050">
                <a:solidFill>
                  <a:srgbClr val="1A2E3D"/>
                </a:solidFill>
                <a:latin typeface="Calibri"/>
              </a:rPr>
              <a:t>Carrier heuristics embedded: Minor $100-$1k, Moderate $1k-$5k, Major $5k-$50k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Output: </a:t>
            </a:r>
            <a:r>
              <a:rPr sz="1050">
                <a:solidFill>
                  <a:srgbClr val="1A2E3D"/>
                </a:solidFill>
                <a:latin typeface="Calibri"/>
              </a:rPr>
              <a:t>JSON with only severity and est_cost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Effect: </a:t>
            </a:r>
            <a:r>
              <a:rPr sz="1050">
                <a:solidFill>
                  <a:srgbClr val="1A2E3D"/>
                </a:solidFill>
                <a:latin typeface="Calibri"/>
              </a:rPr>
              <a:t>AI knows expected cost ranges before answering — improves Gate 2 pass rate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4160520" cy="2057400"/>
          </a:xfrm>
          <a:prstGeom prst="rect">
            <a:avLst/>
          </a:prstGeom>
          <a:solidFill>
            <a:srgbClr val="FAF5FF"/>
          </a:solidFill>
          <a:ln w="19050">
            <a:solidFill>
              <a:srgbClr val="D6B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4160520" cy="50292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91693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53C9A"/>
                </a:solidFill>
                <a:latin typeface="Calibri"/>
              </a:rPr>
              <a:t>③ Pydantic Model — Validates AI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291840"/>
            <a:ext cx="3941063" cy="1508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355848"/>
            <a:ext cx="3758183" cy="1380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class SeverityAssessment(BaseModel):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severity: Literal[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"Minor",    # $100 - $1,000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"Moderate", # $1,000 - $5,000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"Major"     # $5,000 - $50,000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]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est_cost: float = Field(gt=0)  # &gt; 0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# Rejects: "moderate" (wrong case)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# Rejects: -500.0   (negative value)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834640"/>
            <a:ext cx="4160520" cy="2057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BD3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2834640"/>
            <a:ext cx="4160520" cy="50292"/>
          </a:xfrm>
          <a:prstGeom prst="rect">
            <a:avLst/>
          </a:prstGeom>
          <a:solidFill>
            <a:srgbClr val="B7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291693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7500E"/>
                </a:solidFill>
                <a:latin typeface="Calibri"/>
              </a:rPr>
              <a:t>④ Gate 2 — gate2_cost_range_ok()  [Business Logic]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18888" y="3291840"/>
            <a:ext cx="3941063" cy="1508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3355848"/>
            <a:ext cx="3758183" cy="1380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def gate2_cost_range_ok(severity_json):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d = json.loads(severity_json)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v = SeverityAssessment(**d)  # Pydantic first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# Extra range check (pure Python if-statements):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if v.severity=="Minor" and 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   v.est_cost&lt;100 or v.est_cost&gt;1000):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  raise ValueError("Cost out of Minor range")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elif v.severity=="Moderate" and (...): ...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elif v.severity=="Major"    and (...): ...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Stage 3: Queue Routing —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0" y="594360"/>
            <a:ext cx="2286000" cy="23774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0" b="1" i="0">
                <a:solidFill>
                  <a:srgbClr val="E8EEF4"/>
                </a:solidFill>
                <a:latin typeface="Georgia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2633472" cy="4069080"/>
          </a:xfrm>
          <a:prstGeom prst="rect">
            <a:avLst/>
          </a:prstGeom>
          <a:solidFill>
            <a:srgbClr val="F0FFF4"/>
          </a:solidFill>
          <a:ln w="19050">
            <a:solidFill>
              <a:srgbClr val="9A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85800"/>
            <a:ext cx="2633472" cy="50292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777240"/>
            <a:ext cx="241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543D"/>
                </a:solidFill>
                <a:latin typeface="Calibri"/>
              </a:rPr>
              <a:t>  Input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" y="1143000"/>
            <a:ext cx="2414015" cy="22860"/>
          </a:xfrm>
          <a:prstGeom prst="rect">
            <a:avLst/>
          </a:prstGeom>
          <a:solidFill>
            <a:srgbClr val="9A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216152"/>
            <a:ext cx="2414015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ClaimInformation + SeverityAssessment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Both merged into one combined dict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json.dumps() → single JSON string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Guard: if severity is None → skip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" y="3611880"/>
            <a:ext cx="2414015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" y="3675888"/>
            <a:ext cx="2231135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route_claim(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claim_info: ClaimInformation,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severity: SeverityAssessment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79" y="685800"/>
            <a:ext cx="2633472" cy="4069080"/>
          </a:xfrm>
          <a:prstGeom prst="rect">
            <a:avLst/>
          </a:prstGeom>
          <a:solidFill>
            <a:srgbClr val="E6FFF4"/>
          </a:solidFill>
          <a:ln w="19050">
            <a:solidFill>
              <a:srgbClr val="68D39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154679" y="685800"/>
            <a:ext cx="2633472" cy="50292"/>
          </a:xfrm>
          <a:prstGeom prst="rect">
            <a:avLst/>
          </a:prstGeom>
          <a:solidFill>
            <a:srgbClr val="1C6B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64408" y="777240"/>
            <a:ext cx="241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1C6B44"/>
                </a:solidFill>
                <a:latin typeface="Calibri"/>
              </a:rPr>
              <a:t>  AI Does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64408" y="1143000"/>
            <a:ext cx="2414015" cy="22860"/>
          </a:xfrm>
          <a:prstGeom prst="rect">
            <a:avLst/>
          </a:prstGeom>
          <a:solidFill>
            <a:srgbClr val="68D3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64408" y="1216152"/>
            <a:ext cx="2414015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glass → Minor + only glass damage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fast_track → Other Minor damage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material_damage → All Moderate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total_loss → All Major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Priority 1 = safety/stranded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Priority 5 = cosmetic only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64408" y="3611880"/>
            <a:ext cx="2414015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55848" y="3675888"/>
            <a:ext cx="2231135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get_completion(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messages=[system, user]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 -&gt; JSON str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35040" y="685800"/>
            <a:ext cx="2633472" cy="4069080"/>
          </a:xfrm>
          <a:prstGeom prst="rect">
            <a:avLst/>
          </a:prstGeom>
          <a:solidFill>
            <a:srgbClr val="F0FFF4"/>
          </a:solidFill>
          <a:ln w="19050">
            <a:solidFill>
              <a:srgbClr val="9A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35040" y="685800"/>
            <a:ext cx="2633472" cy="50292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44768" y="777240"/>
            <a:ext cx="241401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2543D"/>
                </a:solidFill>
                <a:latin typeface="Calibri"/>
              </a:rPr>
              <a:t>  Output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44768" y="1143000"/>
            <a:ext cx="2414015" cy="22860"/>
          </a:xfrm>
          <a:prstGeom prst="rect">
            <a:avLst/>
          </a:prstGeom>
          <a:solidFill>
            <a:srgbClr val="9A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44768" y="1216152"/>
            <a:ext cx="2414015" cy="22677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Validated ClaimRouting object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C001: glass,           p=4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C002: material_damage, p=3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C003: total_loss,      p=2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C004: material_damage, p=3</a:t>
            </a:r>
          </a:p>
          <a:p>
            <a:pPr>
              <a:spcAft>
                <a:spcPts val="300"/>
              </a:spcAft>
            </a:pPr>
            <a:r>
              <a:rPr sz="1050">
                <a:solidFill>
                  <a:srgbClr val="1A2E3D"/>
                </a:solidFill>
                <a:latin typeface="Calibri"/>
              </a:rPr>
              <a:t>• C005: material_damage, p=3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44768" y="3611880"/>
            <a:ext cx="2414015" cy="91440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36207" y="3675888"/>
            <a:ext cx="2231135" cy="78638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ClaimRouting(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claim_id: str,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queue: Literal[...],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priority: int (1-5)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62072" y="21945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2543D"/>
                </a:solidFill>
                <a:latin typeface="Calibri"/>
              </a:rPr>
              <a:t>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42432" y="2194560"/>
            <a:ext cx="274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0" i="0">
                <a:solidFill>
                  <a:srgbClr val="22543D"/>
                </a:solidFill>
                <a:latin typeface="Calibri"/>
              </a:rPr>
              <a:t>›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Stage 3: Code Walkthrough — route_claim()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4160520" cy="2057400"/>
          </a:xfrm>
          <a:prstGeom prst="rect">
            <a:avLst/>
          </a:prstGeom>
          <a:solidFill>
            <a:srgbClr val="EBF8FF"/>
          </a:solidFill>
          <a:ln w="1905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416052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76809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2B6CB0"/>
                </a:solidFill>
                <a:latin typeface="Calibri"/>
              </a:rPr>
              <a:t>① Function Entry Point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" y="1143000"/>
            <a:ext cx="3941063" cy="1508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1207008"/>
            <a:ext cx="3758183" cy="1380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def route_claim(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claim_info: ClaimInformation,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severity_assessment: Optional[SeverityAssessment]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 -&gt; Optional[ClaimRouting]: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if severity_assessment is None: return None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routing_input = {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"claim_info":          claim_info.model_dump(),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  "severity_assessment": severity.model_dump()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}  # Both Stage 1 + Stage 2 outputs combined</a:t>
            </a:r>
          </a:p>
        </p:txBody>
      </p:sp>
      <p:sp>
        <p:nvSpPr>
          <p:cNvPr id="9" name="Rectangle 8"/>
          <p:cNvSpPr/>
          <p:nvPr/>
        </p:nvSpPr>
        <p:spPr>
          <a:xfrm>
            <a:off x="4709160" y="685800"/>
            <a:ext cx="4160520" cy="2057400"/>
          </a:xfrm>
          <a:prstGeom prst="rect">
            <a:avLst/>
          </a:prstGeom>
          <a:solidFill>
            <a:srgbClr val="FAF5FF"/>
          </a:solidFill>
          <a:ln w="19050">
            <a:solidFill>
              <a:srgbClr val="D6B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09160" y="685800"/>
            <a:ext cx="4160520" cy="50292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18888" y="76809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53C9A"/>
                </a:solidFill>
                <a:latin typeface="Calibri"/>
              </a:rPr>
              <a:t>② Prompt Engineering — System Prompt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37176" y="1143000"/>
            <a:ext cx="3904487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/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Role: </a:t>
            </a:r>
            <a:r>
              <a:rPr sz="1050">
                <a:solidFill>
                  <a:srgbClr val="1A2E3D"/>
                </a:solidFill>
                <a:latin typeface="Calibri"/>
              </a:rPr>
              <a:t>"You are an auto insurance claim routing specialist"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Rules: </a:t>
            </a:r>
            <a:r>
              <a:rPr sz="1050">
                <a:solidFill>
                  <a:srgbClr val="1A2E3D"/>
                </a:solidFill>
                <a:latin typeface="Calibri"/>
              </a:rPr>
              <a:t>4 routing queues explained with conditions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Priority: </a:t>
            </a:r>
            <a:r>
              <a:rPr sz="1050">
                <a:solidFill>
                  <a:srgbClr val="1A2E3D"/>
                </a:solidFill>
                <a:latin typeface="Calibri"/>
              </a:rPr>
              <a:t>Scale 1-5 defined (1=safety/stranded, 5=cosmetic)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553C9A"/>
                </a:solidFill>
                <a:latin typeface="Calibri"/>
              </a:rPr>
              <a:t>User msg: </a:t>
            </a:r>
            <a:r>
              <a:rPr sz="1050">
                <a:solidFill>
                  <a:srgbClr val="1A2E3D"/>
                </a:solidFill>
                <a:latin typeface="Calibri"/>
              </a:rPr>
              <a:t>json.dumps(routing_input) — full combined JSON from Stage 1+2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834640"/>
            <a:ext cx="4160520" cy="2057400"/>
          </a:xfrm>
          <a:prstGeom prst="rect">
            <a:avLst/>
          </a:prstGeom>
          <a:solidFill>
            <a:srgbClr val="FAF5FF"/>
          </a:solidFill>
          <a:ln w="19050">
            <a:solidFill>
              <a:srgbClr val="D6B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4320" y="2834640"/>
            <a:ext cx="4160520" cy="50292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" y="291693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553C9A"/>
                </a:solidFill>
                <a:latin typeface="Calibri"/>
              </a:rPr>
              <a:t>③ Pydantic Model — Validates AI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" y="3291840"/>
            <a:ext cx="3941063" cy="1508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488" y="3355848"/>
            <a:ext cx="3758183" cy="1380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class ClaimRouting(BaseModel):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claim_id: str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queue: Literal[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"glass",           # Minor + glass only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"fast_track",      # Other minor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"material_damage", # Moderate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"total_loss"       # Major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]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priority: int = Field(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ge=1,  # &gt;= 1  (1 = most urgent)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le=5   # &lt;= 5  (5 = lowest)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09160" y="2834640"/>
            <a:ext cx="4160520" cy="2057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BD3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709160" y="2834640"/>
            <a:ext cx="4160520" cy="50292"/>
          </a:xfrm>
          <a:prstGeom prst="rect">
            <a:avLst/>
          </a:prstGeom>
          <a:solidFill>
            <a:srgbClr val="B7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18888" y="2916936"/>
            <a:ext cx="3941063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B7500E"/>
                </a:solidFill>
                <a:latin typeface="Calibri"/>
              </a:rPr>
              <a:t>④ Gate 3 — gate3_validate_routing()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18888" y="3291840"/>
            <a:ext cx="3941063" cy="1508760"/>
          </a:xfrm>
          <a:prstGeom prst="rect">
            <a:avLst/>
          </a:prstGeom>
          <a:solidFill>
            <a:srgbClr val="1A2535"/>
          </a:solidFill>
          <a:ln w="12700">
            <a:solidFill>
              <a:srgbClr val="2D37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10328" y="3355848"/>
            <a:ext cx="3758183" cy="138074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50">
                <a:solidFill>
                  <a:srgbClr val="CBD5E1"/>
                </a:solidFill>
                <a:latin typeface="Consolas"/>
              </a:rPr>
              <a:t>def gate3_validate_routing(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routing_json: str    # raw AI text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) -&gt; ClaimRouting: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d = json.loads(routing_json)  # text → dict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return ClaimRouting(**d)      # Pydantic checks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/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# Rejects: queue="fast track" (space = invalid)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# Rejects: priority=6         (max is 5)</a:t>
            </a:r>
          </a:p>
          <a:p>
            <a:r>
              <a:rPr sz="850">
                <a:solidFill>
                  <a:srgbClr val="CBD5E1"/>
                </a:solidFill>
                <a:latin typeface="Consolas"/>
              </a:rPr>
              <a:t>    # Rejects: priority="high"    (must be int)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Final Results — All 5 Claims Triaged Successfully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onsolas"/>
              </a:rPr>
              <a:t>Stored in routed_claim_items → merged into a pandas DataFrame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987552"/>
          <a:ext cx="786384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/>
                <a:gridCol w="1325880"/>
                <a:gridCol w="1691640"/>
                <a:gridCol w="1005840"/>
                <a:gridCol w="914400"/>
                <a:gridCol w="1554480"/>
                <a:gridCol w="777240"/>
              </a:tblGrid>
              <a:tr h="647700"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Claim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Customer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Damage Areas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Severity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Est. Cost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Queue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Priority</a:t>
                      </a:r>
                    </a:p>
                  </a:txBody>
                  <a:tcPr>
                    <a:solidFill>
                      <a:srgbClr val="065A82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C001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John Smith</a:t>
                      </a:r>
                    </a:p>
                    <a:p>
                      <a:pPr algn="ctr"/>
                      <a:r>
                        <a:rPr sz="950" i="1">
                          <a:solidFill>
                            <a:srgbClr val="4A5568"/>
                          </a:solidFill>
                          <a:latin typeface="Calibri"/>
                        </a:rPr>
                        <a:t>2018 Toyota Camry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E3D"/>
                          </a:solidFill>
                          <a:latin typeface="Calibri"/>
                        </a:rPr>
                        <a:t>windshield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76749"/>
                          </a:solidFill>
                          <a:latin typeface="Calibri"/>
                        </a:rPr>
                        <a:t>Minor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E3D"/>
                          </a:solidFill>
                          <a:latin typeface="Calibri"/>
                        </a:rPr>
                        <a:t>$250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B6CB0"/>
                          </a:solidFill>
                          <a:latin typeface="Calibri"/>
                        </a:rPr>
                        <a:t>glass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C002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Sarah Johnson</a:t>
                      </a:r>
                    </a:p>
                    <a:p>
                      <a:pPr algn="ctr"/>
                      <a:r>
                        <a:rPr sz="950" i="1">
                          <a:solidFill>
                            <a:srgbClr val="4A5568"/>
                          </a:solidFill>
                          <a:latin typeface="Calibri"/>
                        </a:rPr>
                        <a:t>2020 Honda Civic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E3D"/>
                          </a:solidFill>
                          <a:latin typeface="Calibri"/>
                        </a:rPr>
                        <a:t>bumper, rear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7B6B0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E3D"/>
                          </a:solidFill>
                          <a:latin typeface="Calibri"/>
                        </a:rPr>
                        <a:t>$2,500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53C9A"/>
                          </a:solidFill>
                          <a:latin typeface="Calibri"/>
                        </a:rPr>
                        <a:t>material_damage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C003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M. Rodriguez</a:t>
                      </a:r>
                    </a:p>
                    <a:p>
                      <a:pPr algn="ctr"/>
                      <a:r>
                        <a:rPr sz="950" i="1">
                          <a:solidFill>
                            <a:srgbClr val="4A5568"/>
                          </a:solidFill>
                          <a:latin typeface="Calibri"/>
                        </a:rPr>
                        <a:t>2022 Ford F-150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E3D"/>
                          </a:solidFill>
                          <a:latin typeface="Calibri"/>
                        </a:rPr>
                        <a:t>front, hood, bumper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53030"/>
                          </a:solidFill>
                          <a:latin typeface="Calibri"/>
                        </a:rPr>
                        <a:t>Major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E3D"/>
                          </a:solidFill>
                          <a:latin typeface="Calibri"/>
                        </a:rPr>
                        <a:t>$25,000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C53030"/>
                          </a:solidFill>
                          <a:latin typeface="Calibri"/>
                        </a:rPr>
                        <a:t>total_loss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C004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Emma Williams</a:t>
                      </a:r>
                    </a:p>
                    <a:p>
                      <a:pPr algn="ctr"/>
                      <a:r>
                        <a:rPr sz="950" i="1">
                          <a:solidFill>
                            <a:srgbClr val="4A5568"/>
                          </a:solidFill>
                          <a:latin typeface="Calibri"/>
                        </a:rPr>
                        <a:t>2019 Subaru Outback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E3D"/>
                          </a:solidFill>
                          <a:latin typeface="Calibri"/>
                        </a:rPr>
                        <a:t>hood, roof, trunk, side, glass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7B6B0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E3D"/>
                          </a:solidFill>
                          <a:latin typeface="Calibri"/>
                        </a:rPr>
                        <a:t>$3,000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53C9A"/>
                          </a:solidFill>
                          <a:latin typeface="Calibri"/>
                        </a:rPr>
                        <a:t>material_damage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7FAFC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065A82"/>
                          </a:solidFill>
                          <a:latin typeface="Calibri"/>
                        </a:rPr>
                        <a:t>C005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David Brown</a:t>
                      </a:r>
                    </a:p>
                    <a:p>
                      <a:pPr algn="ctr"/>
                      <a:r>
                        <a:rPr sz="950" i="1">
                          <a:solidFill>
                            <a:srgbClr val="4A5568"/>
                          </a:solidFill>
                          <a:latin typeface="Calibri"/>
                        </a:rPr>
                        <a:t>2021 Tesla Model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1A2E3D"/>
                          </a:solidFill>
                          <a:latin typeface="Calibri"/>
                        </a:rPr>
                        <a:t>door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7B6B0A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1A2E3D"/>
                          </a:solidFill>
                          <a:latin typeface="Calibri"/>
                        </a:rPr>
                        <a:t>$2,500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553C9A"/>
                          </a:solidFill>
                          <a:latin typeface="Calibri"/>
                        </a:rPr>
                        <a:t>material_damage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1A2E3D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850392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Key Concepts Learned in This Notebook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685800"/>
            <a:ext cx="4160520" cy="2057400"/>
          </a:xfrm>
          <a:prstGeom prst="rect">
            <a:avLst/>
          </a:prstGeom>
          <a:solidFill>
            <a:srgbClr val="EBF8FF"/>
          </a:solidFill>
          <a:ln w="19050">
            <a:solidFill>
              <a:srgbClr val="90CD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" y="685800"/>
            <a:ext cx="4160520" cy="50292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02336" y="777240"/>
            <a:ext cx="402336" cy="402336"/>
          </a:xfrm>
          <a:prstGeom prst="rect">
            <a:avLst/>
          </a:prstGeom>
          <a:solidFill>
            <a:srgbClr val="2B6C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2336" y="7772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2E3D"/>
                </a:solidFill>
                <a:latin typeface="Calibri"/>
              </a:rPr>
              <a:t>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813816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B6CB0"/>
                </a:solidFill>
                <a:latin typeface="Georgia"/>
              </a:rPr>
              <a:t>Prompt Chaining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1252728"/>
            <a:ext cx="3904487" cy="22860"/>
          </a:xfrm>
          <a:prstGeom prst="rect">
            <a:avLst/>
          </a:prstGeom>
          <a:solidFill>
            <a:srgbClr val="90CD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1344168"/>
            <a:ext cx="3904487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2E3D"/>
                </a:solidFill>
                <a:latin typeface="Calibri"/>
              </a:rPr>
              <a:t>Instead of one giant prompt, the task is split into 3 specialised AI calls — each with a single, focused job. The output of each step becomes the structured input for the next.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09160" y="685800"/>
            <a:ext cx="4160520" cy="2057400"/>
          </a:xfrm>
          <a:prstGeom prst="rect">
            <a:avLst/>
          </a:prstGeom>
          <a:solidFill>
            <a:srgbClr val="FFFBEB"/>
          </a:solidFill>
          <a:ln w="19050">
            <a:solidFill>
              <a:srgbClr val="FBD38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709160" y="685800"/>
            <a:ext cx="4160520" cy="50292"/>
          </a:xfrm>
          <a:prstGeom prst="rect">
            <a:avLst/>
          </a:prstGeom>
          <a:solidFill>
            <a:srgbClr val="B7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837176" y="777240"/>
            <a:ext cx="402336" cy="402336"/>
          </a:xfrm>
          <a:prstGeom prst="rect">
            <a:avLst/>
          </a:prstGeom>
          <a:solidFill>
            <a:srgbClr val="B750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837176" y="77724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2E3D"/>
                </a:solidFill>
                <a:latin typeface="Calibri"/>
              </a:rPr>
              <a:t>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813816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B7500E"/>
                </a:solidFill>
                <a:latin typeface="Georgia"/>
              </a:rPr>
              <a:t>Gate Checks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37176" y="1252728"/>
            <a:ext cx="3904487" cy="22860"/>
          </a:xfrm>
          <a:prstGeom prst="rect">
            <a:avLst/>
          </a:prstGeom>
          <a:solidFill>
            <a:srgbClr val="FBD3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37176" y="1344168"/>
            <a:ext cx="3904487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2E3D"/>
                </a:solidFill>
                <a:latin typeface="Calibri"/>
              </a:rPr>
              <a:t>After every AI call, Python code validates the output before passing it forward. This prevents errors from silently cascading — bad data is caught immediately at the source.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834640"/>
            <a:ext cx="4160520" cy="2057400"/>
          </a:xfrm>
          <a:prstGeom prst="rect">
            <a:avLst/>
          </a:prstGeom>
          <a:solidFill>
            <a:srgbClr val="FAF5FF"/>
          </a:solidFill>
          <a:ln w="19050">
            <a:solidFill>
              <a:srgbClr val="D6BCF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" y="2834640"/>
            <a:ext cx="4160520" cy="50292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02336" y="2926080"/>
            <a:ext cx="402336" cy="402336"/>
          </a:xfrm>
          <a:prstGeom prst="rect">
            <a:avLst/>
          </a:prstGeom>
          <a:solidFill>
            <a:srgbClr val="553C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" y="292608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2E3D"/>
                </a:solidFill>
                <a:latin typeface="Calibri"/>
              </a:rPr>
              <a:t>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6112" y="2962656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553C9A"/>
                </a:solidFill>
                <a:latin typeface="Georgia"/>
              </a:rPr>
              <a:t>Pydantic Validation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" y="3401568"/>
            <a:ext cx="3904487" cy="22860"/>
          </a:xfrm>
          <a:prstGeom prst="rect">
            <a:avLst/>
          </a:prstGeom>
          <a:solidFill>
            <a:srgbClr val="D6BC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2336" y="3493008"/>
            <a:ext cx="3904487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2E3D"/>
                </a:solidFill>
                <a:latin typeface="Calibri"/>
              </a:rPr>
              <a:t>Pydantic models define exactly what fields, types, and values are allowed. Any AI response that does not match the schema is automatically rejected, with a clear error message.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709160" y="2834640"/>
            <a:ext cx="4160520" cy="2057400"/>
          </a:xfrm>
          <a:prstGeom prst="rect">
            <a:avLst/>
          </a:prstGeom>
          <a:solidFill>
            <a:srgbClr val="F0FFF4"/>
          </a:solidFill>
          <a:ln w="19050">
            <a:solidFill>
              <a:srgbClr val="9AE6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709160" y="2834640"/>
            <a:ext cx="4160520" cy="50292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37176" y="2926080"/>
            <a:ext cx="402336" cy="402336"/>
          </a:xfrm>
          <a:prstGeom prst="rect">
            <a:avLst/>
          </a:prstGeom>
          <a:solidFill>
            <a:srgbClr val="225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37176" y="292608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1A2E3D"/>
                </a:solidFill>
                <a:latin typeface="Calibri"/>
              </a:rPr>
              <a:t>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2962656"/>
            <a:ext cx="341071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22543D"/>
                </a:solidFill>
                <a:latin typeface="Georgia"/>
              </a:rPr>
              <a:t>Agentic Reasoning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837176" y="3401568"/>
            <a:ext cx="3904487" cy="22860"/>
          </a:xfrm>
          <a:prstGeom prst="rect">
            <a:avLst/>
          </a:prstGeom>
          <a:solidFill>
            <a:srgbClr val="9AE6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37176" y="3493008"/>
            <a:ext cx="3904487" cy="12984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50" b="0" i="0">
                <a:solidFill>
                  <a:srgbClr val="1A2E3D"/>
                </a:solidFill>
                <a:latin typeface="Calibri"/>
              </a:rPr>
              <a:t>The system reasons step-by-step like a human expert: understand → judge → decide. Each stage builds on the last, and business rules are encoded directly into the prompts.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8046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Georgia"/>
              </a:rPr>
              <a:t>What Did We Achieve?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80467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CBD5E1"/>
                </a:solidFill>
                <a:latin typeface="Calibri"/>
              </a:rPr>
              <a:t>Five raw accident reports went in  →  three chained AI calls transformed them into fully validated, structured routing decisions — all without a human reading a single report manually.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828800" cy="1508760"/>
          </a:xfrm>
          <a:prstGeom prst="rect">
            <a:avLst/>
          </a:prstGeom>
          <a:solidFill>
            <a:srgbClr val="0D2035"/>
          </a:solidFill>
          <a:ln w="19050">
            <a:solidFill>
              <a:srgbClr val="2B6C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87451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2B6CB0"/>
                </a:solidFill>
                <a:latin typeface="Georgia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2491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FNOL Reports
Processed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828800"/>
            <a:ext cx="1828800" cy="1508760"/>
          </a:xfrm>
          <a:prstGeom prst="rect">
            <a:avLst/>
          </a:prstGeom>
          <a:solidFill>
            <a:srgbClr val="0D2035"/>
          </a:solidFill>
          <a:ln w="19050">
            <a:solidFill>
              <a:srgbClr val="553C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87451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553C9A"/>
                </a:solidFill>
                <a:latin typeface="Georgia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72491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AI Prompt
Stages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1828800"/>
            <a:ext cx="1828800" cy="1508760"/>
          </a:xfrm>
          <a:prstGeom prst="rect">
            <a:avLst/>
          </a:prstGeom>
          <a:solidFill>
            <a:srgbClr val="0D2035"/>
          </a:solidFill>
          <a:ln w="19050">
            <a:solidFill>
              <a:srgbClr val="B7500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87451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B7500E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72491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Gate Checks
Passed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66559" y="1828800"/>
            <a:ext cx="1828800" cy="1508760"/>
          </a:xfrm>
          <a:prstGeom prst="rect">
            <a:avLst/>
          </a:prstGeom>
          <a:solidFill>
            <a:srgbClr val="0D2035"/>
          </a:solidFill>
          <a:ln w="19050">
            <a:solidFill>
              <a:srgbClr val="2254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1874519"/>
            <a:ext cx="18288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5200" b="1" i="0">
                <a:solidFill>
                  <a:srgbClr val="22543D"/>
                </a:solidFill>
                <a:latin typeface="Georgia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2724912"/>
            <a:ext cx="18288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4A3B8"/>
                </a:solidFill>
                <a:latin typeface="Calibri"/>
              </a:rPr>
              <a:t>Output
Queues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80467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Calibri"/>
              </a:rPr>
              <a:t>The same pattern applies to any domain requiring unstructured-text classification and routing: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886200"/>
            <a:ext cx="1938528" cy="38404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88620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Medical Triage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60320" y="3886200"/>
            <a:ext cx="1938528" cy="38404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88620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Legal Document Sorting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3886200"/>
            <a:ext cx="1938528" cy="38404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63440" y="388620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Customer Support Tickets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59" y="3886200"/>
            <a:ext cx="1938528" cy="384048"/>
          </a:xfrm>
          <a:prstGeom prst="rect">
            <a:avLst/>
          </a:prstGeom>
          <a:solidFill>
            <a:srgbClr val="0D2035"/>
          </a:solidFill>
          <a:ln w="12700">
            <a:solidFill>
              <a:srgbClr val="1A3C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3886200"/>
            <a:ext cx="1938528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50" b="0" i="0">
                <a:solidFill>
                  <a:srgbClr val="94A3B8"/>
                </a:solidFill>
                <a:latin typeface="Calibri"/>
              </a:rPr>
              <a:t>HR Application Review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0" y="4864608"/>
            <a:ext cx="9144000" cy="2788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7EA8CC"/>
                </a:solidFill>
                <a:latin typeface="Calibri"/>
              </a:rPr>
              <a:t>GreatLearning Agentic AI Course  ·  Lesson 4: Chaining Prompts for Agentic Reasoning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